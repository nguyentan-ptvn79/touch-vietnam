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c57c0fac884e6d" /><Relationship Type="http://schemas.openxmlformats.org/officeDocument/2006/relationships/extended-properties" Target="/docProps/app.xml" Id="Rf3837f3019094efa" /><Relationship Type="http://schemas.openxmlformats.org/officeDocument/2006/relationships/officeDocument" Target="/ppt/presentation.xml" Id="Radf72f4874e54b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3fe6dac5cf45cd"/>
  </p:sldMasterIdLst>
  <p:notesMasterIdLst>
    <p:notesMasterId xmlns:r="http://schemas.openxmlformats.org/officeDocument/2006/relationships" r:id="R47fd898988ed4f87"/>
  </p:notesMasterIdLst>
  <p:sldIdLst>
    <p:sldId xmlns:r="http://schemas.openxmlformats.org/officeDocument/2006/relationships" id="256" r:id="R5a68d27294304bb0"/>
    <p:sldId xmlns:r="http://schemas.openxmlformats.org/officeDocument/2006/relationships" id="257" r:id="R8c887bf3d1584dbf"/>
    <p:sldId xmlns:r="http://schemas.openxmlformats.org/officeDocument/2006/relationships" id="258" r:id="Rcb7073614d5d4f2b"/>
    <p:sldId xmlns:r="http://schemas.openxmlformats.org/officeDocument/2006/relationships" id="259" r:id="Re782b999a27a40b2"/>
    <p:sldId xmlns:r="http://schemas.openxmlformats.org/officeDocument/2006/relationships" id="260" r:id="R97567e58631f4e93"/>
    <p:sldId xmlns:r="http://schemas.openxmlformats.org/officeDocument/2006/relationships" id="261" r:id="Re74e09cf455e4f66"/>
    <p:sldId xmlns:r="http://schemas.openxmlformats.org/officeDocument/2006/relationships" id="262" r:id="R19cc58de1dc24d8b"/>
    <p:sldId xmlns:r="http://schemas.openxmlformats.org/officeDocument/2006/relationships" id="263" r:id="R02d123f090c2409b"/>
    <p:sldId xmlns:r="http://schemas.openxmlformats.org/officeDocument/2006/relationships" id="264" r:id="R0d4caaeef9c34e3a"/>
    <p:sldId xmlns:r="http://schemas.openxmlformats.org/officeDocument/2006/relationships" id="265" r:id="Rff5f48cdfbed40b1"/>
    <p:sldId xmlns:r="http://schemas.openxmlformats.org/officeDocument/2006/relationships" id="266" r:id="R8c77c97049454bf7"/>
    <p:sldId xmlns:r="http://schemas.openxmlformats.org/officeDocument/2006/relationships" id="267" r:id="R2435a3d4d17c4090"/>
    <p:sldId xmlns:r="http://schemas.openxmlformats.org/officeDocument/2006/relationships" id="268" r:id="R45e122359fc545e3"/>
    <p:sldId xmlns:r="http://schemas.openxmlformats.org/officeDocument/2006/relationships" id="269" r:id="R84e93c43679a41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11226f521e47b6" /><Relationship Type="http://schemas.openxmlformats.org/officeDocument/2006/relationships/slideMaster" Target="/ppt/slideMasters/slideMaster1.xml" Id="R443fe6dac5cf45cd" /><Relationship Type="http://schemas.openxmlformats.org/officeDocument/2006/relationships/notesMaster" Target="/ppt/notesMasters/notesMaster1.xml" Id="R47fd898988ed4f87" /><Relationship Type="http://schemas.openxmlformats.org/officeDocument/2006/relationships/presProps" Target="/ppt/presProps.xml" Id="Rea5dbf453f33415a" /><Relationship Type="http://schemas.openxmlformats.org/officeDocument/2006/relationships/tableStyles" Target="/ppt/tableStyles.xml" Id="R5800bc2767e04b1b" /><Relationship Type="http://schemas.openxmlformats.org/officeDocument/2006/relationships/slide" Target="/ppt/slides/slide1.xml" Id="R5a68d27294304bb0" /><Relationship Type="http://schemas.openxmlformats.org/officeDocument/2006/relationships/slide" Target="/ppt/slides/slide2.xml" Id="R8c887bf3d1584dbf" /><Relationship Type="http://schemas.openxmlformats.org/officeDocument/2006/relationships/slide" Target="/ppt/slides/slide3.xml" Id="Rcb7073614d5d4f2b" /><Relationship Type="http://schemas.openxmlformats.org/officeDocument/2006/relationships/slide" Target="/ppt/slides/slide4.xml" Id="Re782b999a27a40b2" /><Relationship Type="http://schemas.openxmlformats.org/officeDocument/2006/relationships/slide" Target="/ppt/slides/slide5.xml" Id="R97567e58631f4e93" /><Relationship Type="http://schemas.openxmlformats.org/officeDocument/2006/relationships/slide" Target="/ppt/slides/slide6.xml" Id="Re74e09cf455e4f66" /><Relationship Type="http://schemas.openxmlformats.org/officeDocument/2006/relationships/slide" Target="/ppt/slides/slide7.xml" Id="R19cc58de1dc24d8b" /><Relationship Type="http://schemas.openxmlformats.org/officeDocument/2006/relationships/slide" Target="/ppt/slides/slide8.xml" Id="R02d123f090c2409b" /><Relationship Type="http://schemas.openxmlformats.org/officeDocument/2006/relationships/slide" Target="/ppt/slides/slide9.xml" Id="R0d4caaeef9c34e3a" /><Relationship Type="http://schemas.openxmlformats.org/officeDocument/2006/relationships/slide" Target="/ppt/slides/slide10.xml" Id="Rff5f48cdfbed40b1" /><Relationship Type="http://schemas.openxmlformats.org/officeDocument/2006/relationships/slide" Target="/ppt/slides/slide11.xml" Id="R8c77c97049454bf7" /><Relationship Type="http://schemas.openxmlformats.org/officeDocument/2006/relationships/slide" Target="/ppt/slides/slide12.xml" Id="R2435a3d4d17c4090" /><Relationship Type="http://schemas.openxmlformats.org/officeDocument/2006/relationships/slide" Target="/ppt/slides/slide13.xml" Id="R45e122359fc545e3" /><Relationship Type="http://schemas.openxmlformats.org/officeDocument/2006/relationships/slide" Target="/ppt/slides/slide14.xml" Id="R84e93c43679a41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72ba09062343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3c909e62874ca2" /><Relationship Type="http://schemas.openxmlformats.org/officeDocument/2006/relationships/notesMaster" Target="/ppt/notesMasters/notesMaster1.xml" Id="Rf52d9b6dd41f4a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61d5fefb6e462b" /><Relationship Type="http://schemas.openxmlformats.org/officeDocument/2006/relationships/notesMaster" Target="/ppt/notesMasters/notesMaster1.xml" Id="R3a9c0d16e9e749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075e645a934701" /><Relationship Type="http://schemas.openxmlformats.org/officeDocument/2006/relationships/notesMaster" Target="/ppt/notesMasters/notesMaster1.xml" Id="R4083abeb166943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384eb171114c23" /><Relationship Type="http://schemas.openxmlformats.org/officeDocument/2006/relationships/notesMaster" Target="/ppt/notesMasters/notesMaster1.xml" Id="R83cd7f24272c48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340da3a99d4e24" /><Relationship Type="http://schemas.openxmlformats.org/officeDocument/2006/relationships/notesMaster" Target="/ppt/notesMasters/notesMaster1.xml" Id="R5b4d363720dc40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07644be9b74d02" /><Relationship Type="http://schemas.openxmlformats.org/officeDocument/2006/relationships/notesMaster" Target="/ppt/notesMasters/notesMaster1.xml" Id="R6a56a728f34c4d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27def9da96454f" /><Relationship Type="http://schemas.openxmlformats.org/officeDocument/2006/relationships/notesMaster" Target="/ppt/notesMasters/notesMaster1.xml" Id="R52fe08695fd343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ad764688004050" /><Relationship Type="http://schemas.openxmlformats.org/officeDocument/2006/relationships/notesMaster" Target="/ppt/notesMasters/notesMaster1.xml" Id="R2e0137087f8945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120a3db1ec4e7d" /><Relationship Type="http://schemas.openxmlformats.org/officeDocument/2006/relationships/notesMaster" Target="/ppt/notesMasters/notesMaster1.xml" Id="R828941d9611f4a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d19b1d7e5542d4" /><Relationship Type="http://schemas.openxmlformats.org/officeDocument/2006/relationships/notesMaster" Target="/ppt/notesMasters/notesMaster1.xml" Id="R2cc21233fa3a49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a97586593941f7" /><Relationship Type="http://schemas.openxmlformats.org/officeDocument/2006/relationships/notesMaster" Target="/ppt/notesMasters/notesMaster1.xml" Id="R73b27e8ff58641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3bd5d9502b4967" /><Relationship Type="http://schemas.openxmlformats.org/officeDocument/2006/relationships/notesMaster" Target="/ppt/notesMasters/notesMaster1.xml" Id="Re82b841ba7e349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f733225b9e4c68" /><Relationship Type="http://schemas.openxmlformats.org/officeDocument/2006/relationships/notesMaster" Target="/ppt/notesMasters/notesMaster1.xml" Id="R84ace16196bc4f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a6dee14c944889" /><Relationship Type="http://schemas.openxmlformats.org/officeDocument/2006/relationships/notesMaster" Target="/ppt/notesMasters/notesMaster1.xml" Id="Raf6ca571198945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README.md</a:t>
            </a:r>
          </a:p>
          <a:p xmlns:a="http://schemas.openxmlformats.org/drawingml/2006/main">
            <a:r>
              <a:t>- Tài sản: app/web/static/uploads/site/home-hero.jpg</a:t>
            </a:r>
          </a:p>
          <a:p xmlns:a="http://schemas.openxmlformats.org/drawingml/2006/main">
            <a:r>
              <a:t>- Tài sản: app/web/static/uploads/site/site-logo.png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docs/DeCuongCDTN_24730064_NguyenPhamTan_HOAN_CHINH.docx</a:t>
            </a:r>
          </a:p>
          <a:p xmlns:a="http://schemas.openxmlformats.org/drawingml/2006/main">
            <a:r>
              <a:t>- Nội bộ: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docs/requirements-audit.md</a:t>
            </a:r>
          </a:p>
          <a:p xmlns:a="http://schemas.openxmlformats.org/drawingml/2006/main">
            <a:r>
              <a:t>- Nội bộ: README.md</a:t>
            </a:r>
          </a:p>
          <a:p xmlns:a="http://schemas.openxmlformats.org/drawingml/2006/main">
            <a:r>
              <a:t>- Nội bộ: tests/test_acceptance.py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docs/decuong-assets/use-case.png</a:t>
            </a:r>
          </a:p>
          <a:p xmlns:a="http://schemas.openxmlformats.org/drawingml/2006/main">
            <a:r>
              <a:t>- Nội bộ: docs/phan-tich-thiet-ke.md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docs/decuong-assets/architecture.png</a:t>
            </a:r>
          </a:p>
          <a:p xmlns:a="http://schemas.openxmlformats.org/drawingml/2006/main">
            <a:r>
              <a:t>- Nội bộ: app/web/app.py</a:t>
            </a:r>
          </a:p>
          <a:p xmlns:a="http://schemas.openxmlformats.org/drawingml/2006/main">
            <a:r>
              <a:t>- Nội bộ: app/api/main.py</a:t>
            </a:r>
          </a:p>
          <a:p xmlns:a="http://schemas.openxmlformats.org/drawingml/2006/main">
            <a:r>
              <a:t>- Nội bộ: app/shared/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docs/decuong-assets/data-model.png</a:t>
            </a:r>
          </a:p>
          <a:p xmlns:a="http://schemas.openxmlformats.org/drawingml/2006/main">
            <a:r>
              <a:t>- Nội bộ: docs/phan-tich-thiet-ke.md</a:t>
            </a:r>
          </a:p>
          <a:p xmlns:a="http://schemas.openxmlformats.org/drawingml/2006/main">
            <a:r>
              <a:t>- Nội bộ: app/shared/db.py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chụp nội bộ: http://127.0.0.1:5000/</a:t>
            </a:r>
          </a:p>
          <a:p xmlns:a="http://schemas.openxmlformats.org/drawingml/2006/main">
            <a:r>
              <a:t>- Ảnh chụp nội bộ: http://127.0.0.1:5000/places</a:t>
            </a:r>
          </a:p>
          <a:p xmlns:a="http://schemas.openxmlformats.org/drawingml/2006/main">
            <a:r>
              <a:t>- Nội bộ: app/web/templates/index.html và places.html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chụp nội bộ: http://127.0.0.1:5000/planner</a:t>
            </a:r>
          </a:p>
          <a:p xmlns:a="http://schemas.openxmlformats.org/drawingml/2006/main">
            <a:r>
              <a:t>- Nội bộ: docs/decuong-assets/planner-flow.png</a:t>
            </a:r>
          </a:p>
          <a:p xmlns:a="http://schemas.openxmlformats.org/drawingml/2006/main">
            <a:r>
              <a:t>- Nội bộ: app/shared/openai_planner.py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docs/requirements-audit.md</a:t>
            </a:r>
          </a:p>
          <a:p xmlns:a="http://schemas.openxmlformats.org/drawingml/2006/main">
            <a:r>
              <a:t>- Nội bộ: app/shared/integration_gateways.py</a:t>
            </a:r>
          </a:p>
          <a:p xmlns:a="http://schemas.openxmlformats.org/drawingml/2006/main">
            <a:r>
              <a:t>- Tài sản: app/web/static/img/places/ha-long-bay.jpg; nguồn ảnh ghi trong app/web/static/img/places/attribution.json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chụp nội bộ: http://127.0.0.1:5000/admin</a:t>
            </a:r>
          </a:p>
          <a:p xmlns:a="http://schemas.openxmlformats.org/drawingml/2006/main">
            <a:r>
              <a:t>- Nội bộ: app/web/templates/admin_dashboard.html</a:t>
            </a:r>
          </a:p>
          <a:p xmlns:a="http://schemas.openxmlformats.org/drawingml/2006/main">
            <a:r>
              <a:t>- Nội bộ: app/shared/db.py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OWASP Foundation: https://owasp.org/Top10/</a:t>
            </a:r>
          </a:p>
          <a:p xmlns:a="http://schemas.openxmlformats.org/drawingml/2006/main">
            <a:r>
              <a:t>- Nội bộ: docs/requirements-audit.md</a:t>
            </a:r>
          </a:p>
          <a:p xmlns:a="http://schemas.openxmlformats.org/drawingml/2006/main">
            <a:r>
              <a:t>- Nội bộ: scripts/security_static_checks.py và scripts/security_dast.py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Kết quả nội bộ ngày 10/08/2026: 22/22 acceptance tests đạt.</a:t>
            </a:r>
          </a:p>
          <a:p xmlns:a="http://schemas.openxmlformats.org/drawingml/2006/main">
            <a:r>
              <a:t>- Quality gate đầy đủ gần nhất đạt ngày 06/08/2026.</a:t>
            </a:r>
          </a:p>
          <a:p xmlns:a="http://schemas.openxmlformats.org/drawingml/2006/main">
            <a:r>
              <a:t>- Stress smoke: 120 request / 12 worker / 0 lỗi / p95 0,921 s.</a:t>
            </a:r>
          </a:p>
          <a:p xmlns:a="http://schemas.openxmlformats.org/drawingml/2006/main">
            <a:r>
              <a:t>- Nội bộ: docs/bang-nghiem-thu-khoa-luan.md; docs/requirements-audit.md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bộ: release/TouchVN_1.1.0_20260807_000515.zip</a:t>
            </a:r>
          </a:p>
          <a:p xmlns:a="http://schemas.openxmlformats.org/drawingml/2006/main">
            <a:r>
              <a:t>- Kích thước 26.638.674 bytes; 183 mục.</a:t>
            </a:r>
          </a:p>
          <a:p xmlns:a="http://schemas.openxmlformats.org/drawingml/2006/main">
            <a:r>
              <a:t>- SHA-256: 692CF4A05FB10ADD7A9D29A409EC736CDECA0767065CE6D3161FFEC224928B66</a:t>
            </a:r>
          </a:p>
          <a:p xmlns:a="http://schemas.openxmlformats.org/drawingml/2006/main">
            <a:r>
              <a:t>- Nội bộ: package_release.ps1;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nội bộ: app/web/static/uploads/site/home-hero.jpg</a:t>
            </a:r>
          </a:p>
          <a:p xmlns:a="http://schemas.openxmlformats.org/drawingml/2006/main">
            <a:r>
              <a:t>- Nội bộ: docs/requirements-audit.md</a:t>
            </a:r>
          </a:p>
          <a:p xmlns:a="http://schemas.openxmlformats.org/drawingml/2006/main">
            <a:r>
              <a:t>- Nội bộ: docs/bang-nghiem-thu-khoa-luan.md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30b703b064c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2d48b447a648b8" /><Relationship Type="http://schemas.openxmlformats.org/officeDocument/2006/relationships/slideLayout" Target="/ppt/slideLayouts/slideLayout1.xml" Id="Rc37014e07b3e4c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7014e07b3e4c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af506d0e348b4" /><Relationship Type="http://schemas.openxmlformats.org/officeDocument/2006/relationships/image" Target="/ppt/media/image.jpeg" Id="R6bc7d7b43c1f404a" /><Relationship Type="http://schemas.openxmlformats.org/officeDocument/2006/relationships/image" Target="/ppt/media/image.png" Id="R291021d94ad24a06" /><Relationship Type="http://schemas.openxmlformats.org/officeDocument/2006/relationships/notesSlide" Target="/ppt/notesSlides/notesSlide1.xml" Id="R704e807034ba4d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2c302ec544eb4" /><Relationship Type="http://schemas.openxmlformats.org/officeDocument/2006/relationships/notesSlide" Target="/ppt/notesSlides/notesSlide2.xml" Id="R18b22bf8c8be47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dc5c3bec44dea" /><Relationship Type="http://schemas.openxmlformats.org/officeDocument/2006/relationships/notesSlide" Target="/ppt/notesSlides/notesSlide3.xml" Id="Rd4e97d443fcc48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d789041c04df6" /><Relationship Type="http://schemas.openxmlformats.org/officeDocument/2006/relationships/image" Target="/ppt/media/image2.png" Id="R3ea4245fbed64cfa" /><Relationship Type="http://schemas.openxmlformats.org/officeDocument/2006/relationships/notesSlide" Target="/ppt/notesSlides/notesSlide4.xml" Id="R15d2426a750f4d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d9c3631cc4ced" /><Relationship Type="http://schemas.openxmlformats.org/officeDocument/2006/relationships/image" Target="/ppt/media/image3.png" Id="R31a88a7b17b74894" /><Relationship Type="http://schemas.openxmlformats.org/officeDocument/2006/relationships/notesSlide" Target="/ppt/notesSlides/notesSlide5.xml" Id="Reda22bc7c8234f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ba6c68c4e4ac9" /><Relationship Type="http://schemas.openxmlformats.org/officeDocument/2006/relationships/image" Target="/ppt/media/image4.png" Id="R9ce54a6dac2b4127" /><Relationship Type="http://schemas.openxmlformats.org/officeDocument/2006/relationships/notesSlide" Target="/ppt/notesSlides/notesSlide6.xml" Id="Rc00727210f0c4d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659591bd74d78" /><Relationship Type="http://schemas.openxmlformats.org/officeDocument/2006/relationships/image" Target="/ppt/media/image2.jpeg" Id="Rf92a459de96440e5" /><Relationship Type="http://schemas.openxmlformats.org/officeDocument/2006/relationships/image" Target="/ppt/media/image3.jpeg" Id="R286b3666c54a4b9b" /><Relationship Type="http://schemas.openxmlformats.org/officeDocument/2006/relationships/notesSlide" Target="/ppt/notesSlides/notesSlide7.xml" Id="R409ee0ada1144a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12d261abb48df" /><Relationship Type="http://schemas.openxmlformats.org/officeDocument/2006/relationships/image" Target="/ppt/media/image4.jpeg" Id="R0264116e544e4936" /><Relationship Type="http://schemas.openxmlformats.org/officeDocument/2006/relationships/image" Target="/ppt/media/image5.png" Id="R1e1a3fc645ad4e9a" /><Relationship Type="http://schemas.openxmlformats.org/officeDocument/2006/relationships/notesSlide" Target="/ppt/notesSlides/notesSlide8.xml" Id="R10af42f378e740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817f381eb4eb3" /><Relationship Type="http://schemas.openxmlformats.org/officeDocument/2006/relationships/image" Target="/ppt/media/image5.jpeg" Id="R7b8b60d4b5e84d2e" /><Relationship Type="http://schemas.openxmlformats.org/officeDocument/2006/relationships/notesSlide" Target="/ppt/notesSlides/notesSlide9.xml" Id="R57b907b3fa2648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32a73ec924e2c" /><Relationship Type="http://schemas.openxmlformats.org/officeDocument/2006/relationships/image" Target="/ppt/media/image6.jpeg" Id="R0b0a09ddd5644abb" /><Relationship Type="http://schemas.openxmlformats.org/officeDocument/2006/relationships/notesSlide" Target="/ppt/notesSlides/notesSlide10.xml" Id="R7831cb51cfc041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29966570145ad" /><Relationship Type="http://schemas.openxmlformats.org/officeDocument/2006/relationships/notesSlide" Target="/ppt/notesSlides/notesSlide11.xml" Id="R38e0018fac5d4f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f5b1a8787452c" /><Relationship Type="http://schemas.openxmlformats.org/officeDocument/2006/relationships/notesSlide" Target="/ppt/notesSlides/notesSlide12.xml" Id="R3893007e5a7f47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ffdc9052b420e" /><Relationship Type="http://schemas.openxmlformats.org/officeDocument/2006/relationships/notesSlide" Target="/ppt/notesSlides/notesSlide13.xml" Id="Rd29a4dacb9e444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f7a03c3f94b75" /><Relationship Type="http://schemas.openxmlformats.org/officeDocument/2006/relationships/image" Target="/ppt/media/image7.jpeg" Id="R28330eaba4c9443a" /><Relationship Type="http://schemas.openxmlformats.org/officeDocument/2006/relationships/notesSlide" Target="/ppt/notesSlides/notesSlide14.xml" Id="Rc1176d525c834d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706EF-BBC3-49FC-A298-282D196A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3B2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7d7b43c1f404a"/>
          <a:srcRect xmlns:a="http://schemas.openxmlformats.org/drawingml/2006/main" l="15756" t="0" r="157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0"/>
            <a:ext cx="7048500" cy="6858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021d94ad24a06"/>
          <a:stretch xmlns:a="http://schemas.openxmlformats.org/drawingml/2006/main"/>
        </p:blipFill>
        <p:spPr>
          <a:xfrm xmlns:a="http://schemas.openxmlformats.org/drawingml/2006/main">
            <a:off x="685800" y="5524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5F064-8DA6-467A-A180-B8E016E5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BÁO CÁO ĐỒ ÁN MÔN HỌC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89717-5FED-42E6-BAA2-8B663968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4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Touch!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4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Việt Nam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73882-93C5-464B-BBA7-E0D95F20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 i="0">
                <a:solidFill>
                  <a:srgbClr val="DCE7E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DCE7E2"/>
                </a:solidFill>
                <a:latin typeface="Arial"/>
                <a:ea typeface="Arial"/>
                <a:cs typeface="Arial"/>
              </a:rPr>
              <a:t>Nền tảng du lịch thông minh tích hợp AI, bản đồ số và trải nghiệm tại điểm đến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3509E-9F2F-4928-931A-FDC004E0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Nguyễn Phạm Tân  ·  24730064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E9416-1E48-4EC2-8351-8E3FFF71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BFD3C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FD3CA"/>
                </a:solidFill>
                <a:latin typeface="Arial"/>
                <a:ea typeface="Arial"/>
                <a:cs typeface="Arial"/>
              </a:rPr>
              <a:t>GVHD: ThS. Đỗ Minh Tiến  ·  </a:t>
            </a:r>
            <a:r>
              <a:rPr sz="1050" b="0" i="0">
                <a:solidFill>
                  <a:srgbClr val="BFD3CA"/>
                </a:solidFill>
                <a:latin typeface="Arial"/>
                <a:ea typeface="Arial"/>
                <a:cs typeface="Arial"/>
              </a:rPr>
              <a:t>08/2026</a:t>
            </a:r>
          </a:p>
        </p:txBody>
      </p:sp>
    </p:spTree>
    <p:extLst>
      <p:ext uri="{BB962C8B-B14F-4D97-AF65-F5344CB8AC3E}">
        <p14:creationId xmlns:p14="http://schemas.microsoft.com/office/powerpoint/2010/main" val="2032571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C175C-AB9C-44CD-8E6F-A6EF8C45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BỐI CẢNH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DA217-698D-4D6C-8728-8174E356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rPr>
              <a:t>Một chuyến đi đang bị chia nhỏ trên quá nhiều dịch vụ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FD8A2-D3C3-4187-91C9-F3B492D9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rPr>
              <a:t>Người dùng phải tự ghép điểm đến, thời tiết, vé, bản đồ, lịch trình và chi tiêu — trong khi dữ liệu, ngôn ngữ và kết nối không phải lúc nào cũng đồng nhất.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E5A8D-DF28-4A69-9240-E84D12F3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CFD34-F0B3-4124-9107-236D0DC1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62FBC-DA10-4695-9154-5060E68C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Khám phá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CDD4E-49CF-40B7-B657-E3BDB992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717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Tìm và lọc điểm đến theo vùng, tỉnh, loại hình.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1DE83-802A-4EDC-8364-9CF10E39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9DB68-0886-496B-954C-862D59FE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8130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Lập kế hoạch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835E8-0EA9-45BA-8E6C-C393CC37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AI tạo lịch trình theo ngày và ngân sách.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7FBCA-BD47-4182-BAFA-9AF0E2D2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CA419-41FE-4A6E-8209-5A4C30AF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3855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Đồng hành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8EA6B-38C5-451E-9C43-2F2DB4E4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862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Thời tiết, nearby, QR/AR, offline và chat 24/7.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49DDB-73B0-4E9B-AE14-D06E2AA5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958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92C56-604E-47E6-8634-4342BA48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Quản lý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341C3-FF11-4285-946A-433BE58A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4345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Vé, chuyến đi, chi tiêu nhóm và dashboard.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9C4B6-1FFF-49C1-B1D5-28464E78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523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64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82088-126D-476B-A9D4-FEC8C1B9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Touch VN hợp nhất toàn bộ hành trình trong một nền tảng web + API.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FBE045-6F1E-472E-AFAB-0E35345E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14811-3391-4814-9569-EAF7250D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TOUCH! VIỆT 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15997-83A4-4226-83B1-68609AB9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086B5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86B5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2891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C27132-31FD-42A7-97F0-CF176CEB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MỤC TIÊU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07597-1611-418F-BC92-606729A2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rPr>
              <a:t>Phạm vi đủ rộng để bao trọn hành trình, đủ rõ để nghiệm thu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724AA-035A-45BB-BBF7-93AF96D4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rPr>
              <a:t>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DDEF0-814C-4AD5-BC5C-7FE91844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điểm đến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7F3B5-7042-40B7-A5B2-68D39890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52600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949D3-DFA7-4DDC-A7E7-DB24A43D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764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AD566-FF0D-47FD-B2E1-AF18AA3F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00275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tỉnh/thành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FB508-01C9-4701-805C-1635764E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52600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F6EAD-3B7B-4D32-B72A-FF708869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3FE04-7DC3-4AC2-A3CE-B4DF5560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0275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loại hình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FDA3E-0D41-4798-80FE-661FB44F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2AABD-1E60-4AEF-B34F-BBACAC02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9E95D-A3B3-4234-B062-46F9DF5A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ngôn ngữ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BECDA-01B1-4D24-9FCA-F06E457E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81150"/>
            <a:ext cx="2762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CA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46230-2BAC-4C98-ADAB-99937A45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E15E17-1770-47DC-B569-0D39EAE9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133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mục tiêu cụ thể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đã đối chiếu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E01F9-3F52-42C1-82B9-11D49CA4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6C056A-D32D-4A2D-91C0-BA245C29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1D433-B4A3-43AF-92DC-FD08BAF0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468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Sản phẩm hiện tại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4EC6D8-5FCB-4125-864B-0AA3BC72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Web responsive + REST API dùng chung cho định hướng web/mobile.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BF09E-B0DD-4D0B-ADC0-DD761D25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45B468-D4EA-41A2-BA2E-9E0D6CD3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468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Dữ liệu và cá nhân hóa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3949F9-B4F8-4200-B19D-4F91106E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Điểm đến, must-go, planner, ngân sách, ngôn ngữ và lịch sử.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4C759-6212-4633-8357-F5B164A9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1670B8-B8E4-4846-9DFA-6A19C515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195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Dịch vụ tại điểm đến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FE752B-440D-4FCD-ABB9-38B7EBC3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67150"/>
            <a:ext cx="487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Maps, thời tiết, nearby, QR/AR và gói JSON/GeoJSON.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7F1F5A-FC95-4DAA-B948-573EB66E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625C0D-7450-4F9B-9331-6EE40775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339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Vận hành và an toàn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A5075A-F432-407E-B2CD-457EC0AD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81550"/>
            <a:ext cx="487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Admin, analytics, integration gateway và OWASP baseline.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64B24B-B364-4172-A84E-6929E6AE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26B645-57FD-4021-B288-C7EF9FF4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TOUCH! VIỆT NAM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C8C35F-B225-442B-A7DE-2B88D272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086B5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86B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9686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B9CA7-AE51-4158-B926-69C38B3F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PHÂN TÍCH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06CCC-8A98-4DE6-A949-BA3DC432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rPr>
              <a:t>Hai vai trò, một hệ thống nghiệp vụ thống nhất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4245fbed64cfa"/>
          <a:stretch xmlns:a="http://schemas.openxmlformats.org/drawingml/2006/main"/>
        </p:blipFill>
        <p:spPr>
          <a:xfrm xmlns:a="http://schemas.openxmlformats.org/drawingml/2006/main">
            <a:off x="2467429" y="1466850"/>
            <a:ext cx="7257143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18F93-CBD1-4D5D-8790-C977BBD3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27092-96CE-4B30-B2A6-B0EBCEC4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TOUCH! VIỆT NAM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51DFD-91C6-4B7C-9340-6E9ED54C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086B5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86B5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786290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36912-900D-435D-B0E0-3DB3F39E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KIẾN TRÚC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91630-6E6C-4BD8-9D66-CD274D01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rPr>
              <a:t>Flask và FastAPI dùng chung một lõi dịch vụ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88a7b17b74894"/>
          <a:stretch xmlns:a="http://schemas.openxmlformats.org/drawingml/2006/main"/>
        </p:blipFill>
        <p:spPr>
          <a:xfrm xmlns:a="http://schemas.openxmlformats.org/drawingml/2006/main">
            <a:off x="2192694" y="1428750"/>
            <a:ext cx="7806612" cy="4781550"/>
          </a:xfrm>
          <a:prstGeom xmlns:a="http://schemas.openxmlformats.org/drawingml/2006/main" prst="roundRect">
            <a:avLst>
              <a:gd name="adj" fmla="val 159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5A797-AE4F-4C54-AE06-DCC6F71D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9F3E0-A1B8-488E-B7E8-5695E457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TOUCH! VIỆT NAM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466D5-D280-4600-811B-B23D455B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086B5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86B5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28640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27D42-28BC-4948-9B72-B5229212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THIẾT KẾ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67503-EDB9-4FBD-A3A0-732B835A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rPr>
              <a:t>Dữ liệu được tách theo nội dung, hành trình và vận hành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54a6dac2b4127"/>
          <a:stretch xmlns:a="http://schemas.openxmlformats.org/drawingml/2006/main"/>
        </p:blipFill>
        <p:spPr>
          <a:xfrm xmlns:a="http://schemas.openxmlformats.org/drawingml/2006/main">
            <a:off x="905279" y="1524000"/>
            <a:ext cx="6380943" cy="4429125"/>
          </a:xfrm>
          <a:prstGeom xmlns:a="http://schemas.openxmlformats.org/drawingml/2006/main" prst="roundRect">
            <a:avLst>
              <a:gd name="adj" fmla="val 172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C4EF6-6DFC-47FC-9519-DC5BE246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38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CÔNG NGHỆ CHÍNH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7E7D8-0496-434D-B12C-1961280A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38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EA6D5-4B14-4591-A0EB-1ED37E67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0383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Flask + Jinja2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E8400-99FD-459F-841D-912091C3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860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Web portal, session và dashboard.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6D408-2983-4ED0-82B9-421022D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00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6AFFF-00D3-4A35-9689-4DDBB8FD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003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FastAPI + Pydantic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F2190-43A3-4C77-B723-20E9B79B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480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REST API, validation và OpenAPI.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AE77D-CD61-49B1-85A8-16A48BD8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62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13DD8-87CC-44C7-9E6E-AB3138C9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623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990F9-DFCB-47EC-B42F-A7EE6E25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8100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Dữ liệu ứng dụng và analytics.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59499-F6CC-4B64-8EC7-8D5DAF44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24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2FA22-A2C7-4DB2-8BE5-DA90BAD1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3243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Integration gateways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236BD-CE05-4E2D-8D3F-AA7E3533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57200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AI, weather, nearby, ticket và offline.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9161B-3DCD-4AB6-A472-6D8F72FD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95900"/>
            <a:ext cx="3143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64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5CFB35-0E0B-4046-B7F4-CB745119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768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0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Thay provider mà không viết lại giao diện.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2F483-0E69-4468-87FF-F6358323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C3EB5-EA95-4E15-9876-B87B5F87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TOUCH! VIỆT 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20B6E-C94D-402C-BD7A-3DCDDACD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086B5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86B5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30439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0CA14-C5AF-4C40-BAB1-B5D66D6D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697A5-7ACA-4EFC-811C-50F15DF1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rPr>
              <a:t>Trải nghiệm khám phá nhất quán từ trang chủ đến bộ lọc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a459de96440e5"/>
          <a:srcRect xmlns:a="http://schemas.openxmlformats.org/drawingml/2006/main" l="0" t="122" r="0" b="1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81150"/>
            <a:ext cx="5191125" cy="29146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b3666c54a4b9b"/>
          <a:srcRect xmlns:a="http://schemas.openxmlformats.org/drawingml/2006/main" l="0" t="122" r="0" b="1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581150"/>
            <a:ext cx="5191125" cy="29146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B7550-13A5-4E12-A2FC-42615066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64D3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64D3B"/>
                </a:solidFill>
                <a:latin typeface="Arial"/>
                <a:ea typeface="Arial"/>
                <a:cs typeface="Arial"/>
              </a:rPr>
              <a:t>Trang chủ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8131B-5745-4E2C-97DE-911605FA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5191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Thông điệp thương hiệu, điểm đến nổi bật, thời tiết và lối vào các hành trình chính.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9D020-B2E9-472A-AD02-63ADB794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67250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64D3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64D3B"/>
                </a:solidFill>
                <a:latin typeface="Arial"/>
                <a:ea typeface="Arial"/>
                <a:cs typeface="Arial"/>
              </a:rPr>
              <a:t>Khám phá địa điểm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9C289-549F-43B2-8215-2D86FDDE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29200"/>
            <a:ext cx="5191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Kết hợp vùng, tỉnh/thành, đặc trưng và từ khóa; thẻ có QR và điểm must-go.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7EB77-51D9-4D33-900E-5C4057C3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56D1E-087D-46C7-A757-0445F9EA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TOUCH! VIỆT NAM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00847-8CC9-4EEF-BC9D-5A0745A4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086B5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86B5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80286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29D18-6EE8-4F9F-AE05-2187A25C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AI PLANNER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12753-5E17-4ADC-8024-35DA02D4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rPr>
              <a:t>Planner biến ràng buộc thực tế thành lịch trình có thể hành động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4116e544e4936"/>
          <a:srcRect xmlns:a="http://schemas.openxmlformats.org/drawingml/2006/main" l="145" t="0" r="1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62100"/>
            <a:ext cx="5095875" cy="2876550"/>
          </a:xfrm>
          <a:prstGeom xmlns:a="http://schemas.openxmlformats.org/drawingml/2006/main" prst="roundRect">
            <a:avLst>
              <a:gd name="adj" fmla="val 3974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a3fc645ad4e9a"/>
          <a:stretch xmlns:a="http://schemas.openxmlformats.org/drawingml/2006/main"/>
        </p:blipFill>
        <p:spPr>
          <a:xfrm xmlns:a="http://schemas.openxmlformats.org/drawingml/2006/main">
            <a:off x="7101334" y="1562100"/>
            <a:ext cx="3370957" cy="2876550"/>
          </a:xfrm>
          <a:prstGeom xmlns:a="http://schemas.openxmlformats.org/drawingml/2006/main" prst="roundRect">
            <a:avLst>
              <a:gd name="adj" fmla="val 397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48678-148E-4EDA-A7EA-A13FEA2A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668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64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067F1-5B1F-47E5-BEC4-652F7D9C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81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Đầu vào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8F5D7-EDE3-4540-B044-E98E13CD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3952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Điểm đến · số ngày · số người · ngân sách · sở thích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1698F-4A4E-4DC6-AA31-02C5A9D6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625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F288D-BC15-42E4-8F6F-8DBCD61D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81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Đầu 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CB85A-794B-4606-8AB6-F036450C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578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Lịch theo ngày · chi phí · di chuyển · mẹo chuẩn bị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D2943-812F-483D-BECB-7A0FCBCE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A8B13-5076-41C7-A615-CC3F1BA6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TOUCH! VIỆT NAM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E52BB-9282-4DCF-9597-88138532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086B5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86B5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753580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8FD5DB-5CB9-41B4-A517-DBBC8151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KHẢ NĂNG CHỊU LỖI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6F750-69B1-4DE5-AED3-4E3445B7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rPr>
              <a:t>Mỗi tích hợp ngoài đều có đường lui an toàn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b60d4b5e84d2e"/>
          <a:srcRect xmlns:a="http://schemas.openxmlformats.org/drawingml/2006/main" l="22514" t="0" r="225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24000"/>
            <a:ext cx="4095750" cy="419100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18D55-53D9-4D7F-AE3C-D1F05B2B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81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DỊCH VỤ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CCC63-3CEE-47DA-A29A-9EA3A0F5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81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CHẾ ĐỘ CHÍNH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31939-2C21-4CEC-A1F2-3BF2694D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81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D2967-4456-4CA4-8325-2FBC2788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C0A03-F652-4210-9AAE-F09E1FF7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431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2CFF7-4C43-49FA-B032-E10A5CDB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431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Responses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BF334-1F51-4FD5-998A-F223D219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43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 i="0">
                <a:solidFill>
                  <a:srgbClr val="064D3B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64D3B"/>
                </a:solidFill>
                <a:latin typeface="Arial"/>
                <a:ea typeface="Arial"/>
                <a:cs typeface="Arial"/>
              </a:rPr>
              <a:t>logic nội bộ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39EAA-3834-4511-A65F-2F89716B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623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D0595-29D4-4313-8635-F49F06FB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289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Thời tiết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658A9-5DF2-46E5-9885-77EA376C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289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Open-Meteo/provider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9C175-3DF4-4B46-8FFC-AACAE59C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 i="0">
                <a:solidFill>
                  <a:srgbClr val="064D3B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64D3B"/>
                </a:solidFill>
                <a:latin typeface="Arial"/>
                <a:ea typeface="Arial"/>
                <a:cs typeface="Arial"/>
              </a:rPr>
              <a:t>dữ liệu dự phòng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4B195-D2D1-411D-A20C-32EEEAA7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481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FBCEE-C71B-42B8-9D23-C10043AD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147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Nearby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4324A-1A47-4B0D-90AA-F4221D79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147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OSM/Overpass/provider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3DA69E-9D5A-45C7-A12E-73DA8AB9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 i="0">
                <a:solidFill>
                  <a:srgbClr val="064D3B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64D3B"/>
                </a:solidFill>
                <a:latin typeface="Arial"/>
                <a:ea typeface="Arial"/>
                <a:cs typeface="Arial"/>
              </a:rPr>
              <a:t>tiện ích nội bộ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E919D-42DC-45BD-A9B5-5951A040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719F2-FCD5-4462-9DC3-EEC97432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005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Vé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0386D2-A474-4238-B14C-A43C4F59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005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External Ticket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C8D6D4-2109-46F4-85ED-A837ED5E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 i="0">
                <a:solidFill>
                  <a:srgbClr val="064D3B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64D3B"/>
                </a:solidFill>
                <a:latin typeface="Arial"/>
                <a:ea typeface="Arial"/>
                <a:cs typeface="Arial"/>
              </a:rPr>
              <a:t>offer và giữ chỗ nội bộ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0A7E8-23D1-415D-BE1F-170CDCEC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197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4C19F4-F248-44BE-94C6-444C6DFF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863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AR / Offline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3F9A29-25C1-47C3-A3C6-5EA569D9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863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provider ngoài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64687F-A697-4E7C-9627-25BE17C9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863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 i="0">
                <a:solidFill>
                  <a:srgbClr val="064D3B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64D3B"/>
                </a:solidFill>
                <a:latin typeface="Arial"/>
                <a:ea typeface="Arial"/>
                <a:cs typeface="Arial"/>
              </a:rPr>
              <a:t>QR-camera + JSON/GeoJSON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D1F002-ABD1-44C6-8B7F-78A08145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5435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64D3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64D3B"/>
                </a:solidFill>
                <a:latin typeface="Arial"/>
                <a:ea typeface="Arial"/>
                <a:cs typeface="Arial"/>
              </a:rPr>
              <a:t>Kết quả: website vẫn vận hành có kiểm soát khi dịch vụ ngoài gián đoạn.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D68ED-C96F-4C8B-A7C9-C008A5A5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611109-1A69-4188-96B6-1CF6BBC6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TOUCH! VIỆT NAM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6636D4-C735-488E-AF66-BB3ACE25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086B5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86B5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43460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913CD-936E-4C58-96BB-BAD56377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QUẢN TRỊ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DF4E2-ED70-42B7-ABC4-D6683D98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rPr>
              <a:t>Dashboard chuyển dữ liệu vận hành thành quyết định quản trị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CFED7-3C13-47BB-8408-0BC40B8C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rPr>
              <a:t>Một màn hình quản trị thực tế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FB0E6-1F66-40BF-B27A-8C651983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46BC2-D36E-4716-9D44-F03C2547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Nội dung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DC90F-DCE4-462E-847B-286EBDF4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Địa điểm, ảnh, website và đề xuất nâng cấp.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344E8-A0F8-4E73-A55D-ACDDA017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C269E-0EBC-44F9-8330-5F40EAB4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Hiển thị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22372-E631-4F4D-9E94-C9C7451E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Bật/tắt các khối dashboard theo cấu hình.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72B03-BD34-4CC5-AB5C-B52CC18D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3CF5B-6566-43F3-AAC5-D9EE39B0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6A95E-F4FC-4CD5-B51E-3BBDDF59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Lượt truy cập, khách duy nhất, booking và doanh thu.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F8DFF-DA8F-4C77-8802-50BCBEE3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1808E-606C-490D-B37C-D03682C4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244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Tích hợp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641F9-B716-401A-837F-1AB5F714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Probe trạng thái API và xuất dữ liệu CSV.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a09ddd5644abb"/>
          <a:srcRect xmlns:a="http://schemas.openxmlformats.org/drawingml/2006/main" l="179" t="0" r="1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1581150"/>
            <a:ext cx="704850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3CCDD-28F8-4B4C-88B5-A8DADF14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340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1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1717A"/>
                </a:solidFill>
                <a:latin typeface="Arial"/>
                <a:ea typeface="Arial"/>
                <a:cs typeface="Arial"/>
              </a:rPr>
              <a:t>Số liệu lấy từ nhật ký truy cập nội bộ — không phải dashboard minh họa tĩnh.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367D3-2323-47C1-B557-60650993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34E9C-D4B8-49CA-B419-57F2B81C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TOUCH! VIỆT NAM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DB417-A385-403E-BD4A-9AC63186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086B5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86B5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866483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33B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FBA988-623A-4314-9592-9D1675F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OWASP TOP 10:2025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6D02F-3B23-4571-9CBF-170D7A00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Bảo mật được thiết kế xuyên suốt, không gắn thêm ở bước cuối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C48E0-3BEE-4BAA-82A0-71A724E3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A01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7DA73-0D19-4640-A2C6-E5CC48B4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57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8E8BA-F674-4338-BF07-64C8C829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BFD3CA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BFD3CA"/>
                </a:solidFill>
                <a:latin typeface="Arial"/>
                <a:ea typeface="Arial"/>
                <a:cs typeface="Arial"/>
              </a:rPr>
              <a:t>phân quyền, CSRF, SSRF, JWT revoke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39BFB-9F46-4ABD-A304-A33331C9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8F7D9-E375-4210-A3F8-5E7AF77F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A02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4D754-3357-451C-B1B3-2487B9CD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95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Misconfiguration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243A8-E5D0-4B3D-9CB6-364BED95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908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BFD3CA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BFD3CA"/>
                </a:solidFill>
                <a:latin typeface="Arial"/>
                <a:ea typeface="Arial"/>
                <a:cs typeface="Arial"/>
              </a:rPr>
              <a:t>HTTPS/HSTS, tắt docs và debug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A292B-7085-4886-80D5-2108E17B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33F45-27C8-4DBA-8A5A-75A9339F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A03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D53A4-9D54-4F36-92FA-C2527F9E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AA6CF-6FE7-458B-B1DD-8EE73B84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290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BFD3CA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BFD3CA"/>
                </a:solidFill>
                <a:latin typeface="Arial"/>
                <a:ea typeface="Arial"/>
                <a:cs typeface="Arial"/>
              </a:rPr>
              <a:t>lockfile hash, SBOM, pip-audit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ACA90-6CCC-402F-8826-7452A1D7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D39AD-F07F-4AB0-9117-7F989165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A04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9455F-264E-4A37-89B1-2656C2C1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Cryptography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4958A-91B9-425C-BACF-4C68856B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672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BFD3CA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BFD3CA"/>
                </a:solidFill>
                <a:latin typeface="Arial"/>
                <a:ea typeface="Arial"/>
                <a:cs typeface="Arial"/>
              </a:rPr>
              <a:t>password hash, aud/iss/jti, cookie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8F253-DC3C-4FD2-B84C-52F69103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4F7615-BF62-4DC7-981A-6BFEEC2E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A05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28712-BD2E-4D1F-87AD-415C1CDF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0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Injection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A10577-AE81-4D77-B8FC-16E8AD31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054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BFD3CA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BFD3CA"/>
                </a:solidFill>
                <a:latin typeface="Arial"/>
                <a:ea typeface="Arial"/>
                <a:cs typeface="Arial"/>
              </a:rPr>
              <a:t>parameter binding, Pydantic, autoescape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70D621-4EBB-4804-BD8C-6CF7D931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A06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744A71-4179-4A22-BFA5-DAEAB551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57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Insecure design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2AF0D5-9220-4561-A79A-1921B1A9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BFD3CA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BFD3CA"/>
                </a:solidFill>
                <a:latin typeface="Arial"/>
                <a:ea typeface="Arial"/>
                <a:cs typeface="Arial"/>
              </a:rPr>
              <a:t>limits, timeout, fallback, least privilege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06A18-4B40-4B3E-8593-02F743A0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76322F-2520-4CD4-82BA-AA519ABD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A07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A3EAF5-05BC-4B8F-BF23-8375957A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0FB7B9-49E4-4AB0-87D9-B9485067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908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BFD3CA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BFD3CA"/>
                </a:solidFill>
                <a:latin typeface="Arial"/>
                <a:ea typeface="Arial"/>
                <a:cs typeface="Arial"/>
              </a:rPr>
              <a:t>session timeout, POST logout, rate limit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41F517-F790-4C68-952F-1F9A49F3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ECAFE8-2130-4346-987A-587894F2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A08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AD5FD6-02C8-4D3A-B852-5317A38F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C8D219-72A2-48E9-982D-2E3299B0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290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BFD3CA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BFD3CA"/>
                </a:solidFill>
                <a:latin typeface="Arial"/>
                <a:ea typeface="Arial"/>
                <a:cs typeface="Arial"/>
              </a:rPr>
              <a:t>structured output và server-side calculation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A54135-357F-4187-AAB0-1E62BB2F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FE08CF-291E-4136-93EB-19D14CE7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A09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4CAA9C-2096-4409-BC20-5907D72F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71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Logging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CB9A03-6D2F-435B-BBF9-C4C8D05E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672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BFD3CA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BFD3CA"/>
                </a:solidFill>
                <a:latin typeface="Arial"/>
                <a:ea typeface="Arial"/>
                <a:cs typeface="Arial"/>
              </a:rPr>
              <a:t>audit HMAC và cảnh báo theo ngưỡng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64CC8D-CAEC-428F-BA60-66C65E96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E7447-F05F-409A-BDFD-B6D8D6B7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A10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F8527F-19FB-4B17-AF39-843A250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10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Exceptions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077575-A6A7-4BD1-8F5B-9139DA05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054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BFD3CA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BFD3CA"/>
                </a:solidFill>
                <a:latin typeface="Arial"/>
                <a:ea typeface="Arial"/>
                <a:cs typeface="Arial"/>
              </a:rPr>
              <a:t>global handler, rollback và quota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12CAD9-063C-4807-AC59-6AD6BB0A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Baseline tự động ≠ chứng nhận pentest độc lập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29822F-C87F-4E36-8A2E-22230360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3AC3C2-04D4-4EA8-953A-9B957E3E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TOUCH! VIỆT NAM  ·  SECURITY BASELINE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C5465D-0C95-4C68-B28F-7EDCADB8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086B5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86B5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61868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85E526-C984-4493-9929-19D8B7B1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2EEC4-EC6C-4F37-8CBA-F41691FC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rPr>
              <a:t>Kết quả kiểm thử đạt yêu cầu nghiệm thu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8B590-C633-4596-8157-1CE2E841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3336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CA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51F88-2DEF-41C2-B456-D084A4A4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rPr>
              <a:t>22/22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E58EF-9D50-4D13-8D76-45A37331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Acceptance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D7AD3-7BAC-4BFF-BE7A-2095C2C9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52600"/>
            <a:ext cx="23336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BF5E5"/>
          </a:solidFill>
          <a:ln xmlns:a="http://schemas.openxmlformats.org/drawingml/2006/main" w="9525">
            <a:solidFill>
              <a:srgbClr val="CA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508DE-0B65-4EDB-A7D4-8D4653C3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431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230B2-3B78-434B-A729-6AE92E75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CVE phát hiện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4E189-BCB9-4B6A-B62C-76E9464B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23336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CEFF4"/>
          </a:solidFill>
          <a:ln xmlns:a="http://schemas.openxmlformats.org/drawingml/2006/main" w="9525">
            <a:solidFill>
              <a:srgbClr val="CAD8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A63C7-4298-433C-B69D-38FF6E14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3CD93-5948-4FC7-ACB2-98FBA41C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Lỗi stress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83563-FFD8-49F7-99ED-A921E23D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52600"/>
            <a:ext cx="23336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CAD8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860A7-4E61-4F96-9799-F2B40FD5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431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064D3B"/>
                </a:solidFill>
                <a:latin typeface="Times New Roman"/>
                <a:ea typeface="Times New Roman"/>
                <a:cs typeface="Times New Roman"/>
              </a:rPr>
              <a:t>0,921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9E7AB-5978-43EF-89FA-7322BD38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765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p95 stress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E2ACA-9A08-42C8-A018-14CE073C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106680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C51E3-F7B6-4C44-97A5-6961E8F6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Cổng kiểm tra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33785-DFB4-48DC-A12A-6935CF64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3867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Biên dịch Python · cú pháp JavaScript · acceptance · SAST · lock/SBOM · dependency scan · DAST · stress smoke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7589F-27BB-4879-9BC9-06408907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1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61717A"/>
                </a:solidFill>
                <a:latin typeface="Arial"/>
                <a:ea typeface="Arial"/>
                <a:cs typeface="Arial"/>
              </a:rPr>
              <a:t>Stress smoke: 120 request / 12 worker / 0 lỗi · p95 0,921 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71961D-8BFE-457B-8FE2-FD4F1A99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AFF43-7274-4049-8658-30B66729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TOUCH! VIỆT 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61CF7-20E2-4E4B-902E-042F0D14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086B5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86B5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903573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EDAE74-E462-4D68-943D-2E65A0F4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TRIỂN KHAI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E8E88-C626-4B30-9AF5-BD3C7070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73247"/>
                </a:solidFill>
                <a:latin typeface="Times New Roman"/>
                <a:ea typeface="Times New Roman"/>
                <a:cs typeface="Times New Roman"/>
              </a:rPr>
              <a:t>Bản phát hành tháng 8 đã sẵn sàng bàn giao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870D7-4548-423F-BD7E-95055E64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51435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64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8C566-AC89-400A-AE88-9C496FDE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431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TouchVN 1.1.0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3709A-104C-41D1-BD24-168246A1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ZIP phát hành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F3C19-1627-4DB7-A58B-25BF5BC6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241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26.638.674 bytes · 183 mục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47723-7C6A-4BA9-893B-05B13E41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Bao gồm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9BCA2-3E35-46D7-902E-29DB3CAE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623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CE7E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CE7E2"/>
                </a:solidFill>
                <a:latin typeface="Arial"/>
                <a:ea typeface="Arial"/>
                <a:cs typeface="Arial"/>
              </a:rPr>
              <a:t>Mã nguồn · tài liệu · tests · lockfile · SBOM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094A2-3C59-4DD6-8260-1D20331D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Loại khỏi gói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7BF6A-37FF-43DE-80D3-B8E4F868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CE7E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CE7E2"/>
                </a:solidFill>
                <a:latin typeface="Arial"/>
                <a:ea typeface="Arial"/>
                <a:cs typeface="Arial"/>
              </a:rPr>
              <a:t>.env · database · .venv · log · cache · tài khoản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F2888-2BF5-4536-8EAD-B5DC97B6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BƯỚC TIẾP THEO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44DC5-5550-40C3-AECB-95BE22A0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5ED5C-B7E2-4753-8E9A-729AD2BB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336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Production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58381-F1D2-4C54-A5C3-7383BFC1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8125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HTTPS, secret thật, reverse proxy và giám sát tập trung.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4C98C-FC2A-4720-A0B8-4D06A66B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83515-9EB2-4F5E-AF3F-7C888025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6705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4646D-15AC-4C17-8EF1-73118593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147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PostgreSQL/PostGIS và kho session dùng chung.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F28C8-3B26-4E88-A67D-1409C40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07403-92A8-4935-B77A-294F066A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005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Kết nối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F96AC9-2084-41F7-BD32-B9A0CFF4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Provider vé, thanh toán và AR/mobile native.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B8623-C0D2-4A70-8B4D-45F904B9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339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36C09D-B1DC-4D94-AF3D-1FEE9F51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3395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7"/>
                </a:solidFill>
                <a:latin typeface="Arial"/>
                <a:ea typeface="Arial"/>
                <a:cs typeface="Arial"/>
              </a:rPr>
              <a:t>Vận hành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B9645-C19F-4C97-A8BB-690C08FC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816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CI/CD, pentest độc lập và phản ứng sự cố.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E3B1BC-C534-45F4-8EA2-183B4DA9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FE431-8089-4887-BD46-84941C1B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1717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17A"/>
                </a:solidFill>
                <a:latin typeface="Arial"/>
                <a:ea typeface="Arial"/>
                <a:cs typeface="Arial"/>
              </a:rPr>
              <a:t>TOUCH! VIỆT NAM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CEE64F-A85E-4B90-9C42-398E6E84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086B5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86B5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650747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F80EA-80D7-4AA2-A40F-773D52F0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3B2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30eaba4c9443a"/>
          <a:srcRect xmlns:a="http://schemas.openxmlformats.org/drawingml/2006/main" l="12980" t="0" r="129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0"/>
            <a:ext cx="7620000" cy="6858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C9486-B181-473F-BFBA-22C6205E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19515-14EC-4B4F-B6C5-635507E2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3238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3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Touch VN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3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đã sẵn sàng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3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bàn giao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D5C6B-C0C9-46C8-B628-32E7EC9D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FD209-7C40-45FF-A105-F80EA248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Đủ chức năng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B179A-96FF-4F90-BE07-6381299E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BFD3C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BFD3CA"/>
                </a:solidFill>
                <a:latin typeface="Arial"/>
                <a:ea typeface="Arial"/>
                <a:cs typeface="Arial"/>
              </a:rPr>
              <a:t>13 mục tiêu được đối chiếu.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B7206-E3F5-465F-B269-6A4D711E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D4264-F11D-4865-84DE-27E8051E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Đủ minh chứng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63420-6967-4DB2-A213-712B7ECD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BFD3C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BFD3CA"/>
                </a:solidFill>
                <a:latin typeface="Arial"/>
                <a:ea typeface="Arial"/>
                <a:cs typeface="Arial"/>
              </a:rPr>
              <a:t>Giao diện, dữ liệu và kiểm thử.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21DBB-52C7-4F63-8247-0A8147E7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66988-A597-4365-AA23-1E90E4B7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Đủ nền tảng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B19AF-20B9-4161-A60F-D7EF0E43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 i="0">
                <a:solidFill>
                  <a:srgbClr val="BFD3C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BFD3CA"/>
                </a:solidFill>
                <a:latin typeface="Arial"/>
                <a:ea typeface="Arial"/>
                <a:cs typeface="Arial"/>
              </a:rPr>
              <a:t>Sẵn sàng mở rộng mobile và production.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D66A2-55B4-41DD-A509-907236D1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 i="0">
                <a:solidFill>
                  <a:srgbClr val="C89A2B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C89A2B"/>
                </a:solidFill>
                <a:latin typeface="Arial"/>
                <a:ea typeface="Arial"/>
                <a:cs typeface="Arial"/>
              </a:rPr>
              <a:t>Chạm Việt Nam, mở ra bản sắc văn hóa Việt.</a:t>
            </a:r>
          </a:p>
        </p:txBody>
      </p:sp>
    </p:spTree>
    <p:extLst>
      <p:ext uri="{BB962C8B-B14F-4D97-AF65-F5344CB8AC3E}">
        <p14:creationId xmlns:p14="http://schemas.microsoft.com/office/powerpoint/2010/main" val="615853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2026-08-10T07:33:25.6370000Z</dcterms:created>
  <dcterms:modified xsi:type="dcterms:W3CDTF">2026-08-10T07:33:25.6370000Z</dcterms:modified>
</coreProperties>
</file>